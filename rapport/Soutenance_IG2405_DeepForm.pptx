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Exactitude</c:v>
                </c:pt>
              </c:strCache>
            </c:strRef>
          </c:tx>
          <c:spPr>
            <a:solidFill>
              <a:srgbClr val="1F4E79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Imprimé</c:v>
                  </c:pt>
                  <c:pt idx="1">
                    <c:v>Signature</c:v>
                  </c:pt>
                  <c:pt idx="2">
                    <c:v>Graphique</c:v>
                  </c:pt>
                  <c:pt idx="3">
                    <c:v>Manuscrit</c:v>
                  </c:pt>
                  <c:pt idx="4">
                    <c:v>Global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95.1</c:v>
                </c:pt>
                <c:pt idx="1">
                  <c:v>91.5</c:v>
                </c:pt>
                <c:pt idx="2">
                  <c:v>83.8</c:v>
                </c:pt>
                <c:pt idx="3">
                  <c:v>57.2</c:v>
                </c:pt>
                <c:pt idx="4">
                  <c:v>82.7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54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Présentation du projet DeepForm : lecture automatique de formulaires d’examens semi-structurés. Deux programmes : validation des présences (photos) et lecture des formulaires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problème combine lecture de marques graphiques (bas niveau imposé) et reconnaissance de texte (haut niveau autorisé). Robustesse géométrique + pouvoir discriminant.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modulaire conforme au §3 du sujet : un programme principal, deux programmes, une sous-fonction par document. Le repère canonique est le pivot commun.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Tout est lu dans un repère canonique fixe. Les photos déformées sont recalées par homographie (ORB+RANSAC). Replis robustes : coins en L, puis Hough.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Lecture des grilles par arg max du taux d’encre par colonne — insensible à la forme de la marque. Très robuste, y compris sur photos.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Détection bas niveau : densité d’encre + motif diagonal. Une case noircie correspond à un choix annulé (convention), reconnue par un fort remplissage.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cryptogramme (motif bas de page) authentifie le formulaire par NCC + vote majoritaire. Deux garde-fous gèrent l’ordre des pages et le comptage des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descripteurs complémentaires combinés. Recadrage de la tâche en vérification 1-contre-1 (l’ID est déjà revendiqué) : 67,7 % → 91,5 %.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Texte imprimé lu par easyOCR avec CLAHE et double source pour la date/le code. Axe le plus fiable du système (95,1 %).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segmentation reste bas niveau (composantes connexes). Points clés : séparateur décimal, localisation de l’exposant par sa hauteur, garde anti-parasite sur cases vides.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Deux CNN de même architecture (têtes 26 / 10). Taille modeste justifiée par la proximité avec MNIST et le faible volume de données réelles.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Méthodologie imposée respectée : 3 bases distinctes + validation croisée PAR SCRIPTEUR (toutes les écritures d’un étudiant dans le même pli) pour un score honnête.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Exactitude globale 82,7 %. Imprimé et signature solides, manuscrit le plus difficile. Évaluation cellule par cellule sur les vérités terrain, sans intervention manuelle.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enseignements d’une démarche expérimentale rigoureuse : résultat négatif (seuil), erreur dans la vérité terrain, et limite intrinsèque du descripteur bas niveau pour les signatures.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Bilan : objectifs atteints, contraintes respectées, 82,7 % global. Perspectives ciblées sur les points faibles identifiés expérimentalement.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Merci — questions. Rappel des résultats clés : imprimé 95,1 %, signature 91,5 %, graphique 83,8 %, global 82,7 %.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07B2C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3716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CFE0F2"/>
                </a:solidFill>
              </a:rPr>
              <a:t>PROJET COMPUTER VISION — IG.2405 · 2026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87452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automatique de formulaires</a:t>
            </a:r>
            <a:endParaRPr lang="en-US" sz="4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d’examens semi-structurés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361188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FE0F2"/>
                </a:solidFill>
              </a:rPr>
              <a:t>Société DeepForm — validation des présences et lecture automatisée des formulaires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27448" y="4343400"/>
            <a:ext cx="2743200" cy="0"/>
          </a:xfrm>
          <a:prstGeom prst="line">
            <a:avLst/>
          </a:prstGeom>
          <a:noFill/>
          <a:ln w="25400">
            <a:solidFill>
              <a:srgbClr val="E07B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Yann Roquigny-Martin · Oscar Millet · Félix Blanchier · Victor Poussier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50292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FC8E4"/>
                </a:solidFill>
              </a:rPr>
              <a:t>Module IG.2405 — Vision par ordinateur — ISEP · Juin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75488"/>
            <a:ext cx="146304" cy="420624"/>
          </a:xfrm>
          <a:prstGeom prst="rect">
            <a:avLst/>
          </a:prstGeom>
          <a:solidFill>
            <a:srgbClr val="E07B2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7B2C"/>
                </a:solidFill>
              </a:rPr>
              <a:t>CONTEXTE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du problème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13232" y="14173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</a:rPr>
              <a:t>Formulaire « semi-structuré » : </a:t>
            </a:r>
            <a:pPr indent="0" marL="0">
              <a:buNone/>
            </a:pPr>
            <a:r>
              <a:rPr lang="en-US" sz="1450" dirty="0">
                <a:solidFill>
                  <a:srgbClr val="1A1A1A"/>
                </a:solidFill>
              </a:rPr>
              <a:t>éléments fixes (en-têtes, grilles, cases) + mise en page variable + champs manuscrits. Énoncés et réponses dans le même document — pas de grille de réponse séparée.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13232" y="228600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EAF1F8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39572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79"/>
                </a:solidFill>
              </a:rPr>
              <a:t>Deux flux d’entrée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761488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Photos de la 1re page → présences</a:t>
            </a:r>
            <a:endParaRPr lang="en-US" sz="1300" dirty="0"/>
          </a:p>
          <a:p>
            <a:pPr algn="l"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PDF scannés des copies → lecture complète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2286000"/>
            <a:ext cx="5120640" cy="1371600"/>
          </a:xfrm>
          <a:prstGeom prst="roundRect">
            <a:avLst>
              <a:gd name="adj" fmla="val 5333"/>
            </a:avLst>
          </a:prstGeom>
          <a:solidFill>
            <a:srgbClr val="EAF1F8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56248" y="239572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79"/>
                </a:solidFill>
              </a:rPr>
              <a:t>Trois objectifs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56248" y="2761488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P1 — Valider présences &amp; signatures</a:t>
            </a:r>
            <a:endParaRPr lang="en-US" sz="1300" dirty="0"/>
          </a:p>
          <a:p>
            <a:pPr algn="l" marL="177800" indent="-1778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P2 — Authentifier &amp; lire les formulaires</a:t>
            </a:r>
            <a:endParaRPr lang="en-US" sz="1300" dirty="0"/>
          </a:p>
          <a:p>
            <a:pPr algn="l" marL="177800" indent="-1778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P3 — Noter (fusion, hors périmètre)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3232" y="3886200"/>
            <a:ext cx="10762488" cy="960120"/>
          </a:xfrm>
          <a:prstGeom prst="roundRect">
            <a:avLst>
              <a:gd name="adj" fmla="val 7619"/>
            </a:avLst>
          </a:prstGeom>
          <a:solidFill>
            <a:srgbClr val="FBEFE2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4041648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07B2C"/>
                </a:solidFill>
              </a:rPr>
              <a:t>Contrainte méthodologique clé — </a:t>
            </a:r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</a:rPr>
              <a:t>éléments </a:t>
            </a:r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</a:rPr>
              <a:t>graphiques</a:t>
            </a:r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</a:rPr>
              <a:t> (grilles, cases, signatures, cryptogrammes) traités par </a:t>
            </a:r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</a:rPr>
              <a:t>méthodes de bas niveau</a:t>
            </a:r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</a:rPr>
              <a:t> uniquement ; </a:t>
            </a:r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</a:rPr>
              <a:t>textes</a:t>
            </a:r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</a:rPr>
              <a:t> imprimés/manuscrits autorisés en </a:t>
            </a:r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</a:rPr>
              <a:t>haut niveau</a:t>
            </a:r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</a:rPr>
              <a:t> (OCR, réseaux de neurones).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13232" y="50749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</a:rPr>
              <a:t>Défis : photos à main levée (rotation, perspective, ombres), faible contraste, diversité des écritures, et — au challenge — usurpations, échanges de pages, fausses signatures.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</a:rPr>
              <a:t>IG.2405 — DeepForm · ISEP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75488"/>
            <a:ext cx="146304" cy="420624"/>
          </a:xfrm>
          <a:prstGeom prst="rect">
            <a:avLst/>
          </a:prstGeom>
          <a:solidFill>
            <a:srgbClr val="E07B2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7B2C"/>
                </a:solidFill>
              </a:rPr>
              <a:t>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systémique du pipeline</a:t>
            </a:r>
            <a:endParaRPr lang="en-US" sz="2600" dirty="0"/>
          </a:p>
        </p:txBody>
      </p:sp>
      <p:pic>
        <p:nvPicPr>
          <p:cNvPr id="5" name="Image 0" descr="/sessions/adoring-loving-brown/mnt/Computer-Vision/rapport/figures/fig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554480"/>
            <a:ext cx="9326880" cy="39172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32408" y="551749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5A5A"/>
                </a:solidFill>
              </a:rPr>
              <a:t>Figure 1 — Photos et PDF ramenés dans un repère canonique commun (ORB + RANSAC), puis Programmes 1 et 2 produisent les fichiers de résultats imposés.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097280" y="59436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</a:rPr>
              <a:t>main</a:t>
            </a:r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</a:rPr>
              <a:t>  définit l’examen + le dossier des signatures, en déduit les répertoires, puis exécute  </a:t>
            </a:r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</a:rPr>
              <a:t>autoValidPresences</a:t>
            </a:r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</a:rPr>
              <a:t>  et  </a:t>
            </a:r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</a:rPr>
              <a:t>autoReadForm</a:t>
            </a:r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</a:rPr>
              <a:t>. Adaptation au challenge = arguments du main, jamais le cœur du code.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</a:rPr>
              <a:t>IG.2405 — DeepForm · ISEP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75488"/>
            <a:ext cx="146304" cy="420624"/>
          </a:xfrm>
          <a:prstGeom prst="rect">
            <a:avLst/>
          </a:prstGeom>
          <a:solidFill>
            <a:srgbClr val="E07B2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7B2C"/>
                </a:solidFill>
              </a:rPr>
              <a:t>PRÉTRAITEMENT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Normalisation géométrique &amp; robustesse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/>
          </a:lstStyle>
          <a:p>
            <a:pPr algn="l" indent="0" marL="0">
              <a:lnSpc>
                <a:spcPct val="102000"/>
              </a:lnSpc>
              <a:buNone/>
            </a:pP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13232" y="1463040"/>
            <a:ext cx="5760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F4E79"/>
                </a:solidFill>
              </a:rPr>
              <a:t>Repère canonique 900 × 1270 px</a:t>
            </a:r>
            <a:endParaRPr lang="en-US" sz="1400" dirty="0"/>
          </a:p>
          <a:p>
            <a:pPr indent="0" marL="0">
              <a:lnSpc>
                <a:spcPct val="103000"/>
              </a:lnSpc>
              <a:spcAft>
                <a:spcPts val="1200"/>
              </a:spcAft>
              <a:buNone/>
            </a:pPr>
            <a:r>
              <a:rPr lang="en-US" sz="1400" dirty="0">
                <a:solidFill>
                  <a:srgbClr val="1A1A1A"/>
                </a:solidFill>
              </a:rPr>
              <a:t>ROI de chaque champ calibrées une fois pour toutes → positions stables, pas de re-détection.</a:t>
            </a:r>
            <a:endParaRPr lang="en-US" sz="1400" dirty="0"/>
          </a:p>
          <a:p>
            <a:pPr indent="0" marL="0">
              <a:lnSpc>
                <a:spcPct val="1030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F4E79"/>
                </a:solidFill>
              </a:rPr>
              <a:t>Photos → recalage ORB + homographie RANSAC</a:t>
            </a:r>
            <a:endParaRPr lang="en-US" sz="1400" dirty="0"/>
          </a:p>
          <a:p>
            <a:pPr indent="0" marL="0">
              <a:lnSpc>
                <a:spcPct val="103000"/>
              </a:lnSpc>
              <a:spcAft>
                <a:spcPts val="1200"/>
              </a:spcAft>
              <a:buNone/>
            </a:pPr>
            <a:r>
              <a:rPr lang="en-US" sz="1400" dirty="0">
                <a:solidFill>
                  <a:srgbClr val="1A1A1A"/>
                </a:solidFill>
              </a:rPr>
              <a:t>ORB libre de droits, descripteur binaire rapide, centaines d’appariements. Gabarit figé livré avec le projet (recalage déterministe).</a:t>
            </a:r>
            <a:endParaRPr lang="en-US" sz="1400" dirty="0"/>
          </a:p>
          <a:p>
            <a:pPr indent="0" marL="0">
              <a:lnSpc>
                <a:spcPct val="1030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F4E79"/>
                </a:solidFill>
              </a:rPr>
              <a:t>Replis en cascade</a:t>
            </a:r>
            <a:endParaRPr lang="en-US" sz="14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marques de coin en « L » (corrélation multi-échelle) → deskew par transformée de Hough (rotation de −θ*).</a:t>
            </a:r>
            <a:endParaRPr lang="en-US" sz="1400" dirty="0"/>
          </a:p>
        </p:txBody>
      </p:sp>
      <p:pic>
        <p:nvPicPr>
          <p:cNvPr id="7" name="Image 0" descr="/sessions/adoring-loving-brown/mnt/Computer-Vision/rapport/figures/fig_desk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828800"/>
            <a:ext cx="5212080" cy="332530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0" y="5199827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5A5A"/>
                </a:solidFill>
              </a:rPr>
              <a:t>Figure — Deskew d’un cas contrôlé : page inclinée de +7° redressée par estimation Hough de l’angle dominant.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</a:rPr>
              <a:t>IG.2405 — DeepForm · ISEP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75488"/>
            <a:ext cx="146304" cy="420624"/>
          </a:xfrm>
          <a:prstGeom prst="rect">
            <a:avLst/>
          </a:prstGeom>
          <a:solidFill>
            <a:srgbClr val="E07B2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7B2C"/>
                </a:solidFill>
              </a:rPr>
              <a:t>GRAPHIQUE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Grilles Student ID / Groupe — bas niveau</a:t>
            </a:r>
            <a:endParaRPr lang="en-US" sz="2600" dirty="0"/>
          </a:p>
        </p:txBody>
      </p:sp>
      <p:pic>
        <p:nvPicPr>
          <p:cNvPr id="5" name="Image 0" descr="/sessions/adoring-loving-brown/mnt/Computer-Vision/rapport/figures/fig_grid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00200"/>
            <a:ext cx="5120640" cy="3907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55529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5A5A"/>
                </a:solidFill>
              </a:rPr>
              <a:t>Figure 4 — Carte des taux d’encre ρ ; l’arg max par colonne reconstitue l’identifiant 19283.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6263640" y="1691640"/>
            <a:ext cx="5212080" cy="3291840"/>
          </a:xfrm>
          <a:prstGeom prst="roundRect">
            <a:avLst>
              <a:gd name="adj" fmla="val 2222"/>
            </a:avLst>
          </a:prstGeom>
          <a:solidFill>
            <a:srgbClr val="EAF1F8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92240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E79"/>
                </a:solidFill>
              </a:rPr>
              <a:t>Méthode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492240" y="2240280"/>
            <a:ext cx="4800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</a:rPr>
              <a:t>Binarisation d’Otsu (adaptative, sans paramètre)</a:t>
            </a:r>
            <a:endParaRPr lang="en-US" sz="1350" dirty="0"/>
          </a:p>
          <a:p>
            <a:pPr algn="l" marL="177800" indent="-1778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</a:rPr>
              <a:t>Taux d’encre ρ(R) par cellule de la grille</a:t>
            </a:r>
            <a:endParaRPr lang="en-US" sz="1350" dirty="0"/>
          </a:p>
          <a:p>
            <a:pPr algn="l" marL="177800" indent="-1778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</a:rPr>
              <a:t>Une marque par colonne → lecture = arg max de ρ</a:t>
            </a:r>
            <a:endParaRPr lang="en-US" sz="1350" dirty="0"/>
          </a:p>
          <a:p>
            <a:pPr algn="l" marL="177800" indent="-1778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</a:rPr>
              <a:t>Robuste à la forme de la coche (croix, point, plein)</a:t>
            </a:r>
            <a:endParaRPr lang="en-US" sz="1350" dirty="0"/>
          </a:p>
          <a:p>
            <a:pPr algn="l" marL="177800" indent="-1778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</a:rPr>
              <a:t>Seuil bas τ = 0,04 : rejette seulement une colonne vide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31520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5A5A"/>
                </a:solidFill>
              </a:rPr>
              <a:t>Student ID lu : </a:t>
            </a:r>
            <a:pPr algn="ctr" indent="0" marL="0">
              <a:buNone/>
            </a:pPr>
            <a:r>
              <a:rPr lang="en-US" sz="1400" b="1" dirty="0">
                <a:solidFill>
                  <a:srgbClr val="3B8C3B"/>
                </a:solidFill>
              </a:rPr>
              <a:t>84–100 %</a:t>
            </a:r>
            <a:pPr algn="ctr" indent="0" marL="0">
              <a:buNone/>
            </a:pPr>
            <a:r>
              <a:rPr lang="en-US" sz="1400" dirty="0">
                <a:solidFill>
                  <a:srgbClr val="5A5A5A"/>
                </a:solidFill>
              </a:rPr>
              <a:t>  (photos &amp; PDF)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</a:rPr>
              <a:t>IG.2405 — DeepForm · ISEP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75488"/>
            <a:ext cx="146304" cy="420624"/>
          </a:xfrm>
          <a:prstGeom prst="rect">
            <a:avLst/>
          </a:prstGeom>
          <a:solidFill>
            <a:srgbClr val="E07B2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7B2C"/>
                </a:solidFill>
              </a:rPr>
              <a:t>GRAPHIQUE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à cocher : QCM &amp; conditions</a:t>
            </a:r>
            <a:endParaRPr lang="en-US" sz="2600" dirty="0"/>
          </a:p>
        </p:txBody>
      </p:sp>
      <p:pic>
        <p:nvPicPr>
          <p:cNvPr id="5" name="Image 0" descr="/sessions/adoring-loving-brown/mnt/Computer-Vision/rapport/figures/fig_mc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648" y="1554480"/>
            <a:ext cx="10058400" cy="24542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66648" y="405445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5A5A"/>
                </a:solidFill>
              </a:rPr>
              <a:t>Figure 5 — Cochée par une croix (vert) ; cases vides et case noircie = choix annulé (rouge).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731520" y="384048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EAF1F8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932688" y="395020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79"/>
                </a:solidFill>
              </a:rPr>
              <a:t>Décision combinée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32688" y="4315968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</a:rPr>
              <a:t>Taux d’encre ≥ τ_encre, ET</a:t>
            </a:r>
            <a:endParaRPr lang="en-US" sz="1250" dirty="0"/>
          </a:p>
          <a:p>
            <a:pPr algn="l"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</a:rPr>
              <a:t>motif en croix (densité des 2 diagonales) OU remplissage dense</a:t>
            </a:r>
            <a:endParaRPr lang="en-US" sz="1250" dirty="0"/>
          </a:p>
          <a:p>
            <a:pPr algn="l"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</a:rPr>
              <a:t>→ évite salissures et cases faibles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63640" y="3840480"/>
            <a:ext cx="5212080" cy="1920240"/>
          </a:xfrm>
          <a:prstGeom prst="roundRect">
            <a:avLst>
              <a:gd name="adj" fmla="val 3810"/>
            </a:avLst>
          </a:prstGeom>
          <a:solidFill>
            <a:srgbClr val="FBEFE2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64808" y="395020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B2C"/>
                </a:solidFill>
              </a:rPr>
              <a:t>Convention du formulaire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64808" y="4315968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</a:rPr>
              <a:t>Case entièrement noircie (≥ 0,75) = choix annulé par l’étudiant</a:t>
            </a:r>
            <a:endParaRPr lang="en-US" sz="1250" dirty="0"/>
          </a:p>
          <a:p>
            <a:pPr algn="l"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</a:rPr>
              <a:t>écartée des réponses valides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</a:rPr>
              <a:t>IG.2405 — DeepForm · ISEP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75488"/>
            <a:ext cx="146304" cy="420624"/>
          </a:xfrm>
          <a:prstGeom prst="rect">
            <a:avLst/>
          </a:prstGeom>
          <a:solidFill>
            <a:srgbClr val="E07B2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7B2C"/>
                </a:solidFill>
              </a:rPr>
              <a:t>GRAPHIQUE · AUTHENTIFICATION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Cryptogramme &amp; structure des pages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5349240" cy="4023360"/>
          </a:xfrm>
          <a:prstGeom prst="roundRect">
            <a:avLst>
              <a:gd name="adj" fmla="val 1818"/>
            </a:avLst>
          </a:prstGeom>
          <a:solidFill>
            <a:srgbClr val="EAF1F8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1874520"/>
            <a:ext cx="457200" cy="4572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7" name="Shape 5"/>
          <p:cNvSpPr/>
          <p:nvPr/>
        </p:nvSpPr>
        <p:spPr>
          <a:xfrm>
            <a:off x="1298448" y="2212848"/>
            <a:ext cx="118872" cy="1188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600200" y="1874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</a:rPr>
              <a:t>Cryptogramme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51460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Petit motif identique sur toutes les pages → authentifie le formulaire</a:t>
            </a:r>
            <a:endParaRPr lang="en-US" sz="1400" dirty="0"/>
          </a:p>
          <a:p>
            <a:pPr algn="l"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Comparaison page 1 ↔ chaque page par corrélation croisée normalisée (NCC)</a:t>
            </a:r>
            <a:endParaRPr lang="en-US" sz="1400" dirty="0"/>
          </a:p>
          <a:p>
            <a:pPr algn="l"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Validé par vote majoritaire (NCC ≥ 0,50) → robuste aux décalages de scan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2F6FB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</a:rPr>
              <a:t>Structure : ordre &amp; comptage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64808" y="251460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Ordre des pages contrôlé via le numéro de page imprimé (OCR autorisé) — réordonné seulement si permutation certaine</a:t>
            </a:r>
            <a:endParaRPr lang="en-US" sz="1400" dirty="0"/>
          </a:p>
          <a:p>
            <a:pPr algn="l"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Comptage des questions : en-tête « QUESTION N » présent (densité) vs pied de page vide</a:t>
            </a:r>
            <a:endParaRPr lang="en-US" sz="1400" dirty="0"/>
          </a:p>
          <a:p>
            <a:pPr algn="l"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Garde-fous face aux échanges de pages annoncés au challenge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</a:rPr>
              <a:t>IG.2405 — DeepForm · ISEP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75488"/>
            <a:ext cx="146304" cy="420624"/>
          </a:xfrm>
          <a:prstGeom prst="rect">
            <a:avLst/>
          </a:prstGeom>
          <a:solidFill>
            <a:srgbClr val="E07B2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7B2C"/>
                </a:solidFill>
              </a:rPr>
              <a:t>BAS NIVEAU · VÉRIFICATION 1-CONTRE-1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des signatures</a:t>
            </a:r>
            <a:endParaRPr lang="en-US" sz="2600" dirty="0"/>
          </a:p>
        </p:txBody>
      </p:sp>
      <p:pic>
        <p:nvPicPr>
          <p:cNvPr id="5" name="Image 0" descr="/sessions/adoring-loving-brown/mnt/Computer-Vision/rapport/figures/fig_signa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20240"/>
            <a:ext cx="5486400" cy="15361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351129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5A5A"/>
                </a:solidFill>
              </a:rPr>
              <a:t>Figure 6 — Sous-image extraite puis normalisée 192 × 96 (cadre retiré, recentrage par centre de masse).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6492240" y="1691640"/>
            <a:ext cx="4983480" cy="3566160"/>
          </a:xfrm>
          <a:prstGeom prst="roundRect">
            <a:avLst>
              <a:gd name="adj" fmla="val 2051"/>
            </a:avLst>
          </a:prstGeom>
          <a:solidFill>
            <a:srgbClr val="EAF1F8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693408" y="1828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E79"/>
                </a:solidFill>
              </a:rPr>
              <a:t>Score combiné de similarité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693408" y="2240280"/>
            <a:ext cx="4572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Corrélation de gabarit (NCC) — poids 0,60</a:t>
            </a:r>
            <a:endParaRPr lang="en-US" sz="1300" dirty="0"/>
          </a:p>
          <a:p>
            <a:pPr algn="l"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Descripteur HOG — poids 0,35</a:t>
            </a:r>
            <a:endParaRPr lang="en-US" sz="1300" dirty="0"/>
          </a:p>
          <a:p>
            <a:pPr algn="l"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Moments de Hu — poids 0,05</a:t>
            </a:r>
            <a:endParaRPr lang="en-US" sz="1300" dirty="0"/>
          </a:p>
          <a:p>
            <a:pPr algn="l"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Vérification 1-contre-1 : comparée à la seule référence de l’ID revendiqué</a:t>
            </a:r>
            <a:endParaRPr lang="en-US" sz="1300" dirty="0"/>
          </a:p>
          <a:p>
            <a:pPr algn="l"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Décision 100 % fondée sur l’image ; ID ≠ signature → alerte usurpation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31520" y="5532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5A5A"/>
                </a:solidFill>
              </a:rPr>
              <a:t>Authentification signature : </a:t>
            </a:r>
            <a:pPr algn="ctr" indent="0" marL="0">
              <a:buNone/>
            </a:pPr>
            <a:r>
              <a:rPr lang="en-US" sz="1500" b="1" dirty="0">
                <a:solidFill>
                  <a:srgbClr val="3B8C3B"/>
                </a:solidFill>
              </a:rPr>
              <a:t>91,5 %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</a:rPr>
              <a:t>IG.2405 — DeepForm · ISEP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75488"/>
            <a:ext cx="146304" cy="420624"/>
          </a:xfrm>
          <a:prstGeom prst="rect">
            <a:avLst/>
          </a:prstGeom>
          <a:solidFill>
            <a:srgbClr val="E07B2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7B2C"/>
                </a:solidFill>
              </a:rPr>
              <a:t>HAUT NIVEAU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 imprimé — OCR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6035040" cy="3931920"/>
          </a:xfrm>
          <a:prstGeom prst="roundRect">
            <a:avLst>
              <a:gd name="adj" fmla="val 1860"/>
            </a:avLst>
          </a:prstGeom>
          <a:solidFill>
            <a:srgbClr val="EAF1F8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187452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E79"/>
                </a:solidFill>
              </a:rPr>
              <a:t>easyOCR (méthode autorisée pour le texte)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331720"/>
            <a:ext cx="5623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Champs : module, professeur, date, code, notes max / validation</a:t>
            </a:r>
            <a:endParaRPr lang="en-US" sz="1400" dirty="0"/>
          </a:p>
          <a:p>
            <a:pPr algn="l" marL="177800" indent="-177800">
              <a:lnSpc>
                <a:spcPct val="10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ROI agrandies + contraste renforcé (CLAHE) avant reconnaissance</a:t>
            </a:r>
            <a:endParaRPr lang="en-US" sz="1400" dirty="0"/>
          </a:p>
          <a:p>
            <a:pPr algn="l" marL="177800" indent="-177800">
              <a:lnSpc>
                <a:spcPct val="10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Stratégie double source : date &amp; code lus dans la bande « CODES EXAM » et dans l’en-tête, on garde la source la plus fiable</a:t>
            </a:r>
            <a:endParaRPr lang="en-US" sz="1400" dirty="0"/>
          </a:p>
          <a:p>
            <a:pPr algn="l" marL="177800" indent="-177800">
              <a:lnSpc>
                <a:spcPct val="10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Corrige les confusions fréquentes (O/0, séparateurs de date)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086600" y="1737360"/>
            <a:ext cx="4389120" cy="3931920"/>
          </a:xfrm>
          <a:prstGeom prst="roundRect">
            <a:avLst>
              <a:gd name="adj" fmla="val 1860"/>
            </a:avLst>
          </a:prstGeom>
          <a:solidFill>
            <a:srgbClr val="1F4E79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086600" y="246888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FFFF"/>
                </a:solidFill>
              </a:rPr>
              <a:t>95,1 %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7086600" y="361188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0F2"/>
                </a:solidFill>
              </a:rPr>
              <a:t>exactitude de lecture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0F2"/>
                </a:solidFill>
              </a:rPr>
              <a:t>des informations imprimées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86600" y="44805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FC8E4"/>
                </a:solidFill>
              </a:rPr>
              <a:t>jusqu’à 99,9 % sur FORM3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</a:rPr>
              <a:t>IG.2405 — DeepForm · ISEP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75488"/>
            <a:ext cx="146304" cy="420624"/>
          </a:xfrm>
          <a:prstGeom prst="rect">
            <a:avLst/>
          </a:prstGeom>
          <a:solidFill>
            <a:srgbClr val="E07B2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7B2C"/>
                </a:solidFill>
              </a:rPr>
              <a:t>AMONT DU RÉSEAU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 : segmentation bas niveau</a:t>
            </a:r>
            <a:endParaRPr lang="en-US" sz="2600" dirty="0"/>
          </a:p>
        </p:txBody>
      </p:sp>
      <p:pic>
        <p:nvPicPr>
          <p:cNvPr id="5" name="Image 0" descr="/sessions/adoring-loving-brown/mnt/Computer-Vision/rapport/figures/fig_mantis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03120"/>
            <a:ext cx="5852160" cy="21067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4264762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5A5A"/>
                </a:solidFill>
              </a:rPr>
              <a:t>Figure 9 — Mantisse « 3,75 » : chiffres (vert) vs séparateur décimal (orange), puis imagettes 28 × 28.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6903720" y="1691640"/>
            <a:ext cx="4572000" cy="3840480"/>
          </a:xfrm>
          <a:prstGeom prst="roundRect">
            <a:avLst>
              <a:gd name="adj" fmla="val 1905"/>
            </a:avLst>
          </a:prstGeom>
          <a:solidFill>
            <a:srgbClr val="EAF1F8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104888" y="18288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E79"/>
                </a:solidFill>
              </a:rPr>
              <a:t>Isoler les caractères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104888" y="224028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</a:rPr>
              <a:t>Composantes connexes (hauteur ≈ plus grande composante)</a:t>
            </a:r>
            <a:endParaRPr lang="en-US" sz="1350" dirty="0"/>
          </a:p>
          <a:p>
            <a:pPr algn="l"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</a:rPr>
              <a:t>Séparateur décimal = composante petite, basse, étroite</a:t>
            </a:r>
            <a:endParaRPr lang="en-US" sz="1350" dirty="0"/>
          </a:p>
          <a:p>
            <a:pPr algn="l"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</a:rPr>
              <a:t>Case exposant localisée par sa position verticale (superscript)</a:t>
            </a:r>
            <a:endParaRPr lang="en-US" sz="1350" dirty="0"/>
          </a:p>
          <a:p>
            <a:pPr algn="l"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</a:rPr>
              <a:t>Garde « case vide » (&lt; 1 % d’encre) → évite les chiffres hallucinés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</a:rPr>
              <a:t>IG.2405 — DeepForm · ISEP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75488"/>
            <a:ext cx="146304" cy="420624"/>
          </a:xfrm>
          <a:prstGeom prst="rect">
            <a:avLst/>
          </a:prstGeom>
          <a:solidFill>
            <a:srgbClr val="E07B2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7B2C"/>
                </a:solidFill>
              </a:rPr>
              <a:t>HAUT NIVEAU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Reconnaissance des caractères — CNN</a:t>
            </a:r>
            <a:endParaRPr lang="en-US" sz="2600" dirty="0"/>
          </a:p>
        </p:txBody>
      </p:sp>
      <p:pic>
        <p:nvPicPr>
          <p:cNvPr id="5" name="Image 0" descr="/sessions/adoring-loving-brown/mnt/Computer-Vision/rapport/figures/fig_cnn_arch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328" y="1600200"/>
            <a:ext cx="10607040" cy="33200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92328" y="496592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5A5A"/>
                </a:solidFill>
              </a:rPr>
              <a:t>Figure 7 — Architecture commune : 2 blocs convolutifs, dense 128 (dropout 0,3), sortie K classes. K = 26 (lettres) ou 10 (chiffres).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731520" y="457200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EAF1F8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932688" y="470916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</a:rPr>
              <a:t>Apprentissage  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EMNIST (3 bases distinctes : train / val / test) · softmax + entropie croisée · optimiseur Adam (10⁻³).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63640" y="4572000"/>
            <a:ext cx="5212080" cy="1371600"/>
          </a:xfrm>
          <a:prstGeom prst="roundRect">
            <a:avLst>
              <a:gd name="adj" fmla="val 5333"/>
            </a:avLst>
          </a:prstGeom>
          <a:solidFill>
            <a:srgbClr val="FBEFE2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64808" y="470916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07B2C"/>
                </a:solidFill>
              </a:rPr>
              <a:t>Pourquoi petit ?  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caractères isolés 28 × 28 (proche de MNIST) ; un réseau plus profond surajusterait notre faible volume de données réelles.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</a:rPr>
              <a:t>IG.2405 — DeepForm · ISEP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75488"/>
            <a:ext cx="146304" cy="420624"/>
          </a:xfrm>
          <a:prstGeom prst="rect">
            <a:avLst/>
          </a:prstGeom>
          <a:solidFill>
            <a:srgbClr val="E07B2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7B2C"/>
                </a:solidFill>
              </a:rPr>
              <a:t>APPRENTISSAGE RIGOUREUX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 : validation par scripteur</a:t>
            </a:r>
            <a:endParaRPr lang="en-US" sz="2600" dirty="0"/>
          </a:p>
        </p:txBody>
      </p:sp>
      <p:pic>
        <p:nvPicPr>
          <p:cNvPr id="5" name="Image 0" descr="/sessions/adoring-loving-brown/mnt/Computer-Vision/rapport/figures/fig_letter_d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11680"/>
            <a:ext cx="5943600" cy="2609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4675784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5A5A"/>
                </a:solidFill>
              </a:rPr>
              <a:t>Figure 8 — Jeu d’affinage construit depuis les vérités terrain (2 145 lettres, 53 scripteurs). En rouge : classes rares.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6949440" y="1691640"/>
            <a:ext cx="4526280" cy="3886200"/>
          </a:xfrm>
          <a:prstGeom prst="roundRect">
            <a:avLst>
              <a:gd name="adj" fmla="val 1882"/>
            </a:avLst>
          </a:prstGeom>
          <a:solidFill>
            <a:srgbClr val="EAF1F8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150608" y="1828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E79"/>
                </a:solidFill>
              </a:rPr>
              <a:t>Affinage par transfert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150608" y="2240280"/>
            <a:ext cx="4114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Lettres appariées aux noms (vérités terrain), noms composés écartés</a:t>
            </a:r>
            <a:endParaRPr lang="en-US" sz="1300" dirty="0"/>
          </a:p>
          <a:p>
            <a:pPr algn="l" marL="177800" indent="-1778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Augmentation affine (rotation ±10°, translation ±2 px)</a:t>
            </a:r>
            <a:endParaRPr lang="en-US" sz="1300" dirty="0"/>
          </a:p>
          <a:p>
            <a:pPr algn="l" marL="177800" indent="-1778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CV 5-fold PAR SCRIPTEUR (GroupKFold) → pas de fuite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150608" y="43434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A5A5A"/>
                </a:solidFill>
              </a:rPr>
              <a:t>Lettres : 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3B8C3B"/>
                </a:solidFill>
              </a:rPr>
              <a:t>86,4 % ± 3,6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A5A5A"/>
                </a:solidFill>
              </a:rPr>
              <a:t>Chiffres : 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3B8C3B"/>
                </a:solidFill>
              </a:rPr>
              <a:t>87,3 % ± 3,7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</a:rPr>
              <a:t>IG.2405 — DeepForm · ISEP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75488"/>
            <a:ext cx="146304" cy="420624"/>
          </a:xfrm>
          <a:prstGeom prst="rect">
            <a:avLst/>
          </a:prstGeom>
          <a:solidFill>
            <a:srgbClr val="E07B2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7B2C"/>
                </a:solidFill>
              </a:rPr>
              <a:t>ÉVALUATION QUANTITATIVE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par axe du challenge</a:t>
            </a:r>
            <a:endParaRPr lang="en-US" sz="2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554480"/>
          <a:ext cx="65836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498080" y="1645920"/>
            <a:ext cx="3977640" cy="4297680"/>
          </a:xfrm>
          <a:prstGeom prst="roundRect">
            <a:avLst>
              <a:gd name="adj" fmla="val 1839"/>
            </a:avLst>
          </a:prstGeom>
          <a:solidFill>
            <a:srgbClr val="EAF1F8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699248" y="17830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</a:rPr>
              <a:t>Lecture cellule par cellule · 130 formulaires (FORM1/2/3)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99248" y="2377440"/>
          <a:ext cx="35661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Axe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Global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Imprimé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95,1 %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Signature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91,5 %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Graphique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83,8 %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Manuscrit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57,2 %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GLOBAL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4E79"/>
                          </a:solidFill>
                        </a:rPr>
                        <a:t>82,7 %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7498080" y="553212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5A5A"/>
                </a:solidFill>
              </a:rPr>
              <a:t>S’exécute de bout en bout, sans correction manuelle ni plantage (~165 s / 43 PDF).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</a:rPr>
              <a:t>IG.2405 — DeepForm · ISEP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75488"/>
            <a:ext cx="146304" cy="420624"/>
          </a:xfrm>
          <a:prstGeom prst="rect">
            <a:avLst/>
          </a:prstGeom>
          <a:solidFill>
            <a:srgbClr val="E07B2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7B2C"/>
                </a:solidFill>
              </a:rPr>
              <a:t>ESPRIT CRITIQUE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critique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13232" y="1737360"/>
            <a:ext cx="3611880" cy="3931920"/>
          </a:xfrm>
          <a:prstGeom prst="roundRect">
            <a:avLst>
              <a:gd name="adj" fmla="val 2025"/>
            </a:avLst>
          </a:prstGeom>
          <a:solidFill>
            <a:srgbClr val="EAF1F8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37360"/>
            <a:ext cx="3611880" cy="10972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7" name="Shape 5"/>
          <p:cNvSpPr/>
          <p:nvPr/>
        </p:nvSpPr>
        <p:spPr>
          <a:xfrm>
            <a:off x="941832" y="2084832"/>
            <a:ext cx="566928" cy="566928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8" name="Text 6"/>
          <p:cNvSpPr/>
          <p:nvPr/>
        </p:nvSpPr>
        <p:spPr>
          <a:xfrm>
            <a:off x="941832" y="2084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96112" y="278892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</a:rPr>
              <a:t>Invariance au seuil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96112" y="342900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Balayage du seuil d’encre des cases sur [0,08 ; 0,30] → exactitude QCM inchangée (≈ 59 %). Les erreurs viennent de la LOCALISATION des cases, pas du seuil.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737360"/>
            <a:ext cx="3611880" cy="3931920"/>
          </a:xfrm>
          <a:prstGeom prst="roundRect">
            <a:avLst>
              <a:gd name="adj" fmla="val 2025"/>
            </a:avLst>
          </a:prstGeom>
          <a:solidFill>
            <a:srgbClr val="EAF1F8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17720" y="1737360"/>
            <a:ext cx="3611880" cy="109728"/>
          </a:xfrm>
          <a:prstGeom prst="rect">
            <a:avLst/>
          </a:prstGeom>
          <a:solidFill>
            <a:srgbClr val="E07B2C"/>
          </a:solidFill>
          <a:ln/>
        </p:spPr>
      </p:sp>
      <p:sp>
        <p:nvSpPr>
          <p:cNvPr id="13" name="Shape 11"/>
          <p:cNvSpPr/>
          <p:nvPr/>
        </p:nvSpPr>
        <p:spPr>
          <a:xfrm>
            <a:off x="4846320" y="2084832"/>
            <a:ext cx="566928" cy="566928"/>
          </a:xfrm>
          <a:prstGeom prst="ellipse">
            <a:avLst/>
          </a:prstGeom>
          <a:solidFill>
            <a:srgbClr val="E07B2C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2084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800600" y="278892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</a:rPr>
              <a:t>Vérité terrain incohérente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800600" y="342900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Champ « Module » : le formulaire imprime IG.1103 (lu correctement), la vérité terrain indique IG.2405. ~40 cellules pénalisées à tort.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522208" y="1737360"/>
            <a:ext cx="3611880" cy="3931920"/>
          </a:xfrm>
          <a:prstGeom prst="roundRect">
            <a:avLst>
              <a:gd name="adj" fmla="val 2025"/>
            </a:avLst>
          </a:prstGeom>
          <a:solidFill>
            <a:srgbClr val="EAF1F8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522208" y="1737360"/>
            <a:ext cx="3611880" cy="10972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19" name="Shape 17"/>
          <p:cNvSpPr/>
          <p:nvPr/>
        </p:nvSpPr>
        <p:spPr>
          <a:xfrm>
            <a:off x="8750808" y="2084832"/>
            <a:ext cx="566928" cy="566928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20" name="Text 18"/>
          <p:cNvSpPr/>
          <p:nvPr/>
        </p:nvSpPr>
        <p:spPr>
          <a:xfrm>
            <a:off x="8750808" y="2084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705088" y="278892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</a:rPr>
              <a:t>Plafond bas niveau (signature)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705088" y="342900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Scores authentique/imposteur partiellement superposés : valide les vraies signatures mais ne rejetterait pas un faussaire habile.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</a:rPr>
              <a:t>IG.2405 — DeepForm · ISEP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75488"/>
            <a:ext cx="146304" cy="420624"/>
          </a:xfrm>
          <a:prstGeom prst="rect">
            <a:avLst/>
          </a:prstGeom>
          <a:solidFill>
            <a:srgbClr val="E07B2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7B2C"/>
                </a:solidFill>
              </a:rPr>
              <a:t>BILAN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perspectives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9164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F2F6FB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32688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</a:rPr>
              <a:t>Acquis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32688" y="2286000"/>
            <a:ext cx="4983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Système complet &amp; modulaire, conforme au cahier des charges</a:t>
            </a:r>
            <a:endParaRPr lang="en-US" sz="1400" dirty="0"/>
          </a:p>
          <a:p>
            <a:pPr algn="l"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Bas niveau pour le graphique, haut niveau pour le texte — contrainte respectée</a:t>
            </a:r>
            <a:endParaRPr lang="en-US" sz="1400" dirty="0"/>
          </a:p>
          <a:p>
            <a:pPr algn="l"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Exactitude globale 82,7 % ; exécution automatique sans plantage</a:t>
            </a:r>
            <a:endParaRPr lang="en-US" sz="1400" dirty="0"/>
          </a:p>
          <a:p>
            <a:pPr algn="l"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Méthodes formalisées, paramètres centralisés et justifiés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63640" y="1691640"/>
            <a:ext cx="5212080" cy="4114800"/>
          </a:xfrm>
          <a:prstGeom prst="roundRect">
            <a:avLst>
              <a:gd name="adj" fmla="val 1778"/>
            </a:avLst>
          </a:prstGeom>
          <a:solidFill>
            <a:srgbClr val="FBEFE2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64808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7B2C"/>
                </a:solidFill>
              </a:rPr>
              <a:t>Perspectives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64808" y="228600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Renforcer exposant &amp; unité (champs manuscrits les plus faibles)</a:t>
            </a:r>
            <a:endParaRPr lang="en-US" sz="1400" dirty="0"/>
          </a:p>
          <a:p>
            <a:pPr algn="l"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Améliorer la localisation des cases QCM (levier identifié)</a:t>
            </a:r>
            <a:endParaRPr lang="en-US" sz="1400" dirty="0"/>
          </a:p>
          <a:p>
            <a:pPr algn="l"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Rééquilibrer le jeu de lettres (classes rares F, Q, V, W, X, Z)</a:t>
            </a:r>
            <a:endParaRPr lang="en-US" sz="1400" dirty="0"/>
          </a:p>
          <a:p>
            <a:pPr algn="l"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Apprentissage métrique pour des signatures plus discriminantes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</a:rPr>
              <a:t>IG.2405 — DeepForm · ISEP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E07B2C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46888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Merci de votre attention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4747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07B2C"/>
                </a:solidFill>
              </a:rPr>
              <a:t>Questions 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FC8E4"/>
                </a:solidFill>
              </a:rPr>
              <a:t>Équipe DeepForm — IG.2405 · Yann Roquigny-Martin · Oscar Millet · Félix Blanchier · Victor Poussier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automatique de formulaires d’examens semi-structurés</dc:title>
  <dc:subject>PptxGenJS Presentation</dc:subject>
  <dc:creator>Équipe DeepForm — IG.2405</dc:creator>
  <cp:lastModifiedBy>Équipe DeepForm — IG.2405</cp:lastModifiedBy>
  <cp:revision>1</cp:revision>
  <dcterms:created xsi:type="dcterms:W3CDTF">2026-06-14T07:52:00Z</dcterms:created>
  <dcterms:modified xsi:type="dcterms:W3CDTF">2026-06-14T07:52:00Z</dcterms:modified>
</cp:coreProperties>
</file>