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0:00 -&gt; 0:30 (30 s) — Orateur 1</a:t>
            </a:r>
          </a:p>
          <a:p>
            <a:r>
              <a:t>Saluer, presenter l'equipe, annoncer le plan en 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0:30 -&gt; 2:30 (2 min) — Orateur 1</a:t>
            </a:r>
          </a:p>
          <a:p>
            <a:r>
              <a:t>Insister sur la contrainte bas/haut niveau : elle structure toutes nos decisions techniques.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2:30 -&gt; 4:30 (2 min) — Orateur 1</a:t>
            </a:r>
          </a:p>
          <a:p>
            <a:r>
              <a:t>Derouler le schema bloc par bloc, de gauche a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4:30 -&gt; 7:00 (2 min 30) — Orateur 2</a:t>
            </a:r>
          </a:p>
          <a:p>
            <a:r>
              <a:t>Figure = cas controle : page droite inclinee artificiellement puis corrigee. Les 4 puces robustesse = cas reels de la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7:00 -&gt; 9:00 (2 min) — Orateur 2</a:t>
            </a:r>
          </a:p>
          <a:p>
            <a:r>
              <a:t>La heatmap montre que la decision est triviale une fois le ratio d'encre calcule : 100 % bas niveau (sec. 4.1).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9:00 -&gt; 11:00 (2 min) — Orateur 2</a:t>
            </a:r>
          </a:p>
          <a:p>
            <a:r>
              <a:t>Sur la figure : B cochee (vert), C entierement noircie = annulee correctement rejetee (rouge). Critere relatif = robuste a l'epaisseur du trait.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11:00 -&gt; 13:00 (2 min) — Orateur 3</a:t>
            </a:r>
          </a:p>
          <a:p>
            <a:r>
              <a:t>L'anecdote du bug 'le nettoyage de cadre effacait la signature cursive entiere' passe tres bien a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13:00 -&gt; 14:30 (1 min 30) — Orateur 3</a:t>
            </a:r>
          </a:p>
          <a:p>
            <a:r>
              <a:t>Axe le plus simple, aller vite. La figure rappelle ou sont les zones lues (ROIs du pipeline).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14:30 -&gt; 16:30 (2 min) — Orateur 3</a:t>
            </a:r>
          </a:p>
          <a:p>
            <a:r>
              <a:t>Gauche : grille ajustee (lignes rouges pile sur les separateurs). Droite : composantes vertes = chiffres envoyes au CNN, orange = virgule decimale detectee par position/taille.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16:30 -&gt; 18:30 (2 min) — Orateur 4</a:t>
            </a:r>
          </a:p>
          <a:p>
            <a:r>
              <a:t>Le schema d'architecture est exige aussi dans le rapport. Bien expliquer le fosse de domaine EMNIST vs stylo fin penche.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18:30 -&gt; 20:00 (1 min 30) — Orateur 4</a:t>
            </a:r>
          </a:p>
          <a:p>
            <a:r>
              <a:t>Gauche : distribution (rouge = classes rares Q/X/Z, limite assumee). Droite : vignettes 28x28 reellement extraites avec leur label (JULIEN, MOREAU, MIGUEL...).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20:00 -&gt; 22:00 (2 min) — Orateur 4</a:t>
            </a:r>
          </a:p>
          <a:p>
            <a:r>
              <a:t>LA slide methodologie attendue par le jury. Message cle : le K-fold naif (lettres melangees) donnerait un score gonfle ; en groupant par scripteur on mesure la generalisation a une ECRITURE inconnue (59,5 %), alors que sur des scripteurs deja vus (FORM3, memes eleves que FORM1/2) on atteint 73,4 %. L'ecart est exactement la fuite que le GroupKFold elimine — c'est un resultat, pas un echec.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22:00 -&gt; 24:00 (2 min) — Orateur 4</a:t>
            </a:r>
          </a:p>
          <a:p>
            <a:r>
              <a:t>Chaque barre 'apres' correspond a un levier presente dans les slides precedentes : MCQ -&gt; graphique, cadre signature -&gt; signature, segmentation+CNN -&gt; manuscrit.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24:00 -&gt; 25:00 (1 min) — Orateur 4</a:t>
            </a:r>
          </a:p>
          <a:p>
            <a:r>
              <a:t>Esprit critique = critere d'evaluation du sujet : assumer les limites avec des chiffres.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25:00 — fin, 15 min de questions.</a:t>
            </a:r>
          </a:p>
          <a:p>
            <a:r>
              <a:t>Garder les notebooks 02/03/04 ouverts pour repondre en montrant.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069080"/>
            <a:ext cx="12191695" cy="82296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FFFFFF"/>
                </a:solidFill>
              </a:defRPr>
            </a:pPr>
            <a:r>
              <a:t>DeepForm</a:t>
            </a:r>
          </a:p>
          <a:p>
            <a:pPr>
              <a:defRPr sz="2600">
                <a:solidFill>
                  <a:srgbClr val="DCE6F1"/>
                </a:solidFill>
              </a:defRPr>
            </a:pPr>
            <a:r>
              <a:t>Lecture automatique de formulaires d'examens semi-structures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Projet Computer Vision IG.2405 — 2026</a:t>
            </a:r>
          </a:p>
          <a:p>
            <a:pPr>
              <a:defRPr sz="1800">
                <a:solidFill>
                  <a:srgbClr val="DCE6F1"/>
                </a:solidFill>
              </a:defRPr>
            </a:pPr>
            <a:r>
              <a:t>Equipe : [Prenom NOM x4]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9692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Position du probleme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61320" y="256032"/>
            <a:ext cx="1325880" cy="420624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IG.2405 — DeepForm — Soutenance       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11338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73737"/>
                </a:solidFill>
              </a:defRPr>
            </a:pPr>
            <a:r>
              <a:t>▪  Formulaires SEMI-structures : cases a cocher, grilles, champs manuscrits</a:t>
            </a:r>
          </a:p>
          <a:p>
            <a:pPr>
              <a:spcAft>
                <a:spcPts val="700"/>
              </a:spcAft>
              <a:defRPr sz="1800">
                <a:solidFill>
                  <a:srgbClr val="373737"/>
                </a:solidFill>
              </a:defRPr>
            </a:pPr>
            <a:r>
              <a:t>▪  Programme 1 — presences : photo page 1 -&gt; Student ID (grille) + signature authentifiee</a:t>
            </a:r>
          </a:p>
          <a:p>
            <a:pPr>
              <a:spcAft>
                <a:spcPts val="700"/>
              </a:spcAft>
              <a:defRPr sz="1800">
                <a:solidFill>
                  <a:srgbClr val="373737"/>
                </a:solidFill>
              </a:defRPr>
            </a:pPr>
            <a:r>
              <a:t>▪  Programme 2 — lecture : PDF scanne -&gt; un Excel par eleve (PAGE-01 + EXAM)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1840"/>
            <a:ext cx="11064240" cy="2377440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4E79"/>
                </a:solidFill>
              </a:defRPr>
            </a:pPr>
            <a:r>
              <a:t>Contrainte centrale (sec. 4.1)</a:t>
            </a:r>
          </a:p>
          <a:p>
            <a:pPr>
              <a:defRPr sz="1500">
                <a:solidFill>
                  <a:srgbClr val="373737"/>
                </a:solidFill>
              </a:defRPr>
            </a:pPr>
            <a:r>
              <a:t>▪  Elements GRAPHIQUES  -&gt;  bas niveau uniquement : Otsu, morphologie, Hough, composantes connexes, correlation</a:t>
            </a:r>
          </a:p>
          <a:p>
            <a:pPr>
              <a:defRPr sz="1500">
                <a:solidFill>
                  <a:srgbClr val="373737"/>
                </a:solidFill>
              </a:defRPr>
            </a:pPr>
            <a:r>
              <a:t>▪  TEXTES imprimes / manuscrits  -&gt;  haut niveau autorise : OCR, CNN fine-tune</a:t>
            </a:r>
          </a:p>
          <a:p>
            <a:pPr>
              <a:defRPr sz="1500">
                <a:solidFill>
                  <a:srgbClr val="373737"/>
                </a:solidFill>
              </a:defRPr>
            </a:pPr>
            <a:r>
              <a:t>▪  Challenge evalue sur 4 axes : signatures, imprime, manuscrit, graphique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9692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Vue systemique du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61320" y="256032"/>
            <a:ext cx="1325880" cy="420624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IG.2405 — DeepForm — Soutenance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11338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Un seul repere canonique 900 x 1270 px pour photos ET PDF -&gt; ROIs calibrees une fois</a:t>
            </a:r>
          </a:p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Photos : recalage sur gabarit par points ORB + homographie RANSAC</a:t>
            </a:r>
          </a:p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Sorties strictement conformes au cahier des charges (xlsx imposes)</a:t>
            </a:r>
          </a:p>
        </p:txBody>
      </p:sp>
      <p:pic>
        <p:nvPicPr>
          <p:cNvPr id="8" name="Picture 7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3520440"/>
            <a:ext cx="9692640" cy="406824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9692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Normalisation et robustesse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61320" y="256032"/>
            <a:ext cx="1325880" cy="420624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 min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IG.2405 — DeepForm — Soutenance   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34440"/>
            <a:ext cx="5852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373737"/>
                </a:solidFill>
              </a:defRPr>
            </a:pPr>
            <a:r>
              <a:t>▪  Deskew : Hough -&gt; angle dominant -&gt; rotation inverse (cas controle +7° ci-contre)</a:t>
            </a:r>
          </a:p>
          <a:p>
            <a:pPr>
              <a:spcAft>
                <a:spcPts val="700"/>
              </a:spcAft>
              <a:defRPr sz="1600">
                <a:solidFill>
                  <a:srgbClr val="373737"/>
                </a:solidFill>
              </a:defRPr>
            </a:pPr>
            <a:r>
              <a:t>▪  Recalage photo : ORB (6000 pts) + RANSAC</a:t>
            </a:r>
          </a:p>
          <a:p>
            <a:pPr lvl="1">
              <a:spcAft>
                <a:spcPts val="700"/>
              </a:spcAft>
              <a:defRPr sz="1300">
                <a:solidFill>
                  <a:srgbClr val="6E6E6E"/>
                </a:solidFill>
              </a:defRPr>
            </a:pPr>
            <a:r>
              <a:t>–  garde-fou : &gt;= 30 inliers sinon repli (stoppe les recalages aberrants)</a:t>
            </a:r>
          </a:p>
          <a:p>
            <a:pPr>
              <a:spcAft>
                <a:spcPts val="700"/>
              </a:spcAft>
              <a:defRPr sz="1600">
                <a:solidFill>
                  <a:srgbClr val="373737"/>
                </a:solidFill>
              </a:defRPr>
            </a:pPr>
            <a:r>
              <a:t>▪  Entrees reelles encaissees :</a:t>
            </a:r>
          </a:p>
          <a:p>
            <a:pPr lvl="1">
              <a:spcAft>
                <a:spcPts val="700"/>
              </a:spcAft>
              <a:defRPr sz="1300">
                <a:solidFill>
                  <a:srgbClr val="6E6E6E"/>
                </a:solidFill>
              </a:defRPr>
            </a:pPr>
            <a:r>
              <a:t>–  HEIC deguises en .jpg -&gt; pillow-heif</a:t>
            </a:r>
          </a:p>
          <a:p>
            <a:pPr lvl="1">
              <a:spcAft>
                <a:spcPts val="700"/>
              </a:spcAft>
              <a:defRPr sz="1300">
                <a:solidFill>
                  <a:srgbClr val="6E6E6E"/>
                </a:solidFill>
              </a:defRPr>
            </a:pPr>
            <a:r>
              <a:t>–  photo de 8 pages empilees -&gt; crop auto page 1</a:t>
            </a:r>
          </a:p>
          <a:p>
            <a:pPr lvl="1">
              <a:spcAft>
                <a:spcPts val="700"/>
              </a:spcAft>
              <a:defRPr sz="1300">
                <a:solidFill>
                  <a:srgbClr val="6E6E6E"/>
                </a:solidFill>
              </a:defRPr>
            </a:pPr>
            <a:r>
              <a:t>–  photos a l'envers -&gt; ORB invariant en rotation</a:t>
            </a:r>
          </a:p>
          <a:p>
            <a:pPr lvl="1">
              <a:spcAft>
                <a:spcPts val="700"/>
              </a:spcAft>
              <a:defRPr sz="1300">
                <a:solidFill>
                  <a:srgbClr val="6E6E6E"/>
                </a:solidFill>
              </a:defRPr>
            </a:pPr>
            <a:r>
              <a:t>–  dates OCR aberrantes (52-01-62) rejetees</a:t>
            </a:r>
          </a:p>
        </p:txBody>
      </p:sp>
      <p:pic>
        <p:nvPicPr>
          <p:cNvPr id="8" name="Picture 7" descr="fig_de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19" y="1325880"/>
            <a:ext cx="4937760" cy="31478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9692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Grilles Student ID / Groupe (bas niveau)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61320" y="256032"/>
            <a:ext cx="1325880" cy="420624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IG.2405 — DeepForm — Soutenance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3444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Decoupage en cellules 10 x 5</a:t>
            </a:r>
          </a:p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Binarisation Otsu -&gt; ratio d'encre interieur</a:t>
            </a:r>
          </a:p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Decision : maximum par colonne + seuil plancher anti-bruit</a:t>
            </a:r>
          </a:p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Exemple ci-contre : 1-9-2-8-3 lu sans OCR</a:t>
            </a:r>
          </a:p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Student ID : 90 % (PDF)</a:t>
            </a:r>
          </a:p>
        </p:txBody>
      </p:sp>
      <p:pic>
        <p:nvPicPr>
          <p:cNvPr id="8" name="Picture 7" descr="fig_grid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59" y="1325880"/>
            <a:ext cx="6217920" cy="47447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9692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Cases MCQ : detection et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61320" y="256032"/>
            <a:ext cx="1325880" cy="420624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IG.2405 — DeepForm — Soutenance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11338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Composantes connexes + filtre COLONNE ALIGNEE (vire les fragments d'enonce)</a:t>
            </a:r>
          </a:p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Decision RELATIVE par question : cochee si encre &gt;&gt; mediane des cases (rattrape les coches legeres)</a:t>
            </a:r>
          </a:p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Case entierement noircie (ratio ~0,9) = choix ANNULE par l'eleve, vs croix ~0,3-0,55  -&gt;  MCQ : 61 % -&gt; 79 %</a:t>
            </a:r>
          </a:p>
        </p:txBody>
      </p:sp>
      <p:pic>
        <p:nvPicPr>
          <p:cNvPr id="8" name="Picture 7" descr="fig_mc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520440"/>
            <a:ext cx="8778240" cy="21412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9692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Authentification des signatures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61320" y="256032"/>
            <a:ext cx="1325880" cy="420624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IG.2405 — DeepForm — Soutenance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11338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Pretraitement : Otsu -&gt; retrait des barres de cadre -&gt; recadrage -&gt; canvas 192x96 centre (centre de masse)</a:t>
            </a:r>
          </a:p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Score = 0,6 x NCC + 0,35 x cos(HOG) + 0,05 x cos(Hu) ; max sur les references de chaque eleve (base 60)</a:t>
            </a:r>
          </a:p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Bug corrige : le nettoyage effacait des signatures entieres (1 grande composante touchant le bord)  -&gt;  58 % -&gt; 78 %</a:t>
            </a:r>
          </a:p>
        </p:txBody>
      </p:sp>
      <p:pic>
        <p:nvPicPr>
          <p:cNvPr id="8" name="Picture 7" descr="fig_sign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3520440"/>
            <a:ext cx="7863840" cy="22036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9692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Textes imprimes (OCR)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61320" y="256032"/>
            <a:ext cx="1325880" cy="420624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 min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IG.2405 — DeepForm — Soutenance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6949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73737"/>
                </a:solidFill>
              </a:defRPr>
            </a:pPr>
            <a:r>
              <a:t>▪  easyOCR sur image egalisee (CLAHE) et agrandie x4</a:t>
            </a:r>
          </a:p>
          <a:p>
            <a:pPr>
              <a:spcAft>
                <a:spcPts val="700"/>
              </a:spcAft>
              <a:defRPr sz="1800">
                <a:solidFill>
                  <a:srgbClr val="373737"/>
                </a:solidFill>
              </a:defRPr>
            </a:pPr>
            <a:r>
              <a:t>▪  Extraction par motifs : Module, Professor, Date, Code</a:t>
            </a:r>
          </a:p>
          <a:p>
            <a:pPr>
              <a:spcAft>
                <a:spcPts val="700"/>
              </a:spcAft>
              <a:defRPr sz="1800">
                <a:solidFill>
                  <a:srgbClr val="373737"/>
                </a:solidFill>
              </a:defRPr>
            </a:pPr>
            <a:r>
              <a:t>▪  Date : double source, l'en-tete haut de page prioritaire (valeurs reelles de l'examen)</a:t>
            </a:r>
          </a:p>
          <a:p>
            <a:pPr>
              <a:spcAft>
                <a:spcPts val="700"/>
              </a:spcAft>
              <a:defRPr sz="1800">
                <a:solidFill>
                  <a:srgbClr val="373737"/>
                </a:solidFill>
              </a:defRPr>
            </a:pPr>
            <a:r>
              <a:t>▪  Validation jour &lt;= 31 / mois &lt;= 12 : rejette les lectures aberrantes</a:t>
            </a:r>
          </a:p>
          <a:p>
            <a:pPr>
              <a:spcAft>
                <a:spcPts val="700"/>
              </a:spcAft>
              <a:defRPr sz="1800">
                <a:solidFill>
                  <a:srgbClr val="373737"/>
                </a:solidFill>
              </a:defRPr>
            </a:pPr>
            <a:r>
              <a:t>▪  Axe imprime : 84,5 % (FORM1) — 86,7 % (3 formulaires)</a:t>
            </a:r>
          </a:p>
        </p:txBody>
      </p:sp>
      <p:pic>
        <p:nvPicPr>
          <p:cNvPr id="8" name="Picture 7" descr="fig_roi_p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143000"/>
            <a:ext cx="4023360" cy="560190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9692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Manuscrit : segmentation bas niveau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61320" y="256032"/>
            <a:ext cx="1325880" cy="420624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IG.2405 — DeepForm — Soutenance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11338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Noms : grille re-estimee SUR CHAQUE formulaire (projection verticale + vote RANSAC sur origine/pas)</a:t>
            </a:r>
          </a:p>
          <a:p>
            <a:pPr lvl="1">
              <a:spcAft>
                <a:spcPts val="700"/>
              </a:spcAft>
              <a:defRPr sz="1400">
                <a:solidFill>
                  <a:srgbClr val="6E6E6E"/>
                </a:solidFill>
              </a:defRPr>
            </a:pPr>
            <a:r>
              <a:t>–  une grille fixe derivait d'une demi-case en fin de rangee</a:t>
            </a:r>
          </a:p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Mantisse / exposant : composantes connexes ; separateur decimal = composante basse et etroite ; signe moins = composante plate</a:t>
            </a:r>
          </a:p>
        </p:txBody>
      </p:sp>
      <p:pic>
        <p:nvPicPr>
          <p:cNvPr id="8" name="Picture 7" descr="fig_name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6035040" cy="1939427"/>
          </a:xfrm>
          <a:prstGeom prst="rect">
            <a:avLst/>
          </a:prstGeom>
        </p:spPr>
      </p:pic>
      <p:pic>
        <p:nvPicPr>
          <p:cNvPr id="9" name="Picture 8" descr="fig_mantis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3383280"/>
            <a:ext cx="4754880" cy="17113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9692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Reconnaissance des caracteres : CNN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61320" y="256032"/>
            <a:ext cx="1325880" cy="420624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IG.2405 — DeepForm — Soutenance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11338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Meme architecture pour chiffres et lettres (seule la tete change) — entree 28x28 type EMNIST</a:t>
            </a:r>
          </a:p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Chiffres : EMNIST-digits -&gt; 99,5 % (test EMNIST)</a:t>
            </a:r>
          </a:p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Lettres : EMNIST seul insuffisant (fosse de domaine) : « Julien » lu SULIEN  -&gt;  fine-tuning sur lettres reelles -&gt; JULIEN</a:t>
            </a:r>
          </a:p>
        </p:txBody>
      </p:sp>
      <p:pic>
        <p:nvPicPr>
          <p:cNvPr id="8" name="Picture 7" descr="fig_cnn_arc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3520440"/>
            <a:ext cx="10607040" cy="331672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9692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Jeu de fine-tuning : 2145 lettres reelles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61320" y="256032"/>
            <a:ext cx="1325880" cy="420624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 min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IG.2405 — DeepForm — Soutenance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11338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Extraction AUTOMATIQUE des 221 formulaires (FORM1+2+3) — aucune annotation manuelle</a:t>
            </a:r>
          </a:p>
          <a:p>
            <a:pPr lvl="1">
              <a:spcAft>
                <a:spcPts val="700"/>
              </a:spcAft>
              <a:defRPr sz="1400">
                <a:solidFill>
                  <a:srgbClr val="6E6E6E"/>
                </a:solidFill>
              </a:defRPr>
            </a:pPr>
            <a:r>
              <a:t>–  labels = verite terrain Excel ; appariement case k &lt;-&gt; lettre k du nom</a:t>
            </a:r>
          </a:p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2145 lettres, 53 scripteurs — augmentation : rotations ±10°, translations ±2 px</a:t>
            </a:r>
          </a:p>
          <a:p>
            <a:pPr lvl="1">
              <a:spcAft>
                <a:spcPts val="700"/>
              </a:spcAft>
              <a:defRPr sz="1400">
                <a:solidFill>
                  <a:srgbClr val="6E6E6E"/>
                </a:solidFill>
              </a:defRPr>
            </a:pPr>
            <a:r>
              <a:t>–  37 noms composes exclus (l'espace laisse une case vide -&gt; labels decales)</a:t>
            </a:r>
          </a:p>
        </p:txBody>
      </p:sp>
      <p:pic>
        <p:nvPicPr>
          <p:cNvPr id="8" name="Picture 7" descr="fig_letter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54680"/>
            <a:ext cx="6675120" cy="2929369"/>
          </a:xfrm>
          <a:prstGeom prst="rect">
            <a:avLst/>
          </a:prstGeom>
        </p:spPr>
      </p:pic>
      <p:pic>
        <p:nvPicPr>
          <p:cNvPr id="9" name="Picture 8" descr="dataset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3154680"/>
            <a:ext cx="4206240" cy="232493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9692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Methodologie : validation croisee par scripteur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61320" y="256032"/>
            <a:ext cx="1325880" cy="420624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IG.2405 — DeepForm — Soutenance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6858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Sec. 4.2 : bases distinctes + « privilegier la validation croisee »</a:t>
            </a:r>
          </a:p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K-fold (K = 5) GROUPE PAR ETUDIANT :</a:t>
            </a:r>
          </a:p>
          <a:p>
            <a:pPr lvl="1">
              <a:spcAft>
                <a:spcPts val="700"/>
              </a:spcAft>
              <a:defRPr sz="1400">
                <a:solidFill>
                  <a:srgbClr val="6E6E6E"/>
                </a:solidFill>
              </a:defRPr>
            </a:pPr>
            <a:r>
              <a:t>–  toutes les lettres d'un meme scripteur dans le meme fold</a:t>
            </a:r>
          </a:p>
          <a:p>
            <a:pPr lvl="1">
              <a:spcAft>
                <a:spcPts val="700"/>
              </a:spcAft>
              <a:defRPr sz="1400">
                <a:solidFill>
                  <a:srgbClr val="6E6E6E"/>
                </a:solidFill>
              </a:defRPr>
            </a:pPr>
            <a:r>
              <a:t>–  sinon score optimiste : le reseau reconnait l'ECRITURE, pas la lettre</a:t>
            </a:r>
          </a:p>
          <a:p>
            <a:pPr lvl="1">
              <a:spcAft>
                <a:spcPts val="700"/>
              </a:spcAft>
              <a:defRPr sz="1400">
                <a:solidFill>
                  <a:srgbClr val="6E6E6E"/>
                </a:solidFill>
              </a:defRPr>
            </a:pPr>
            <a:r>
              <a:t>–  chaque fold repart des poids EMNIST purs (zero fuite)</a:t>
            </a:r>
          </a:p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Modele final : re-entraine sur 100 % des donnees avec la recette validee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280160"/>
            <a:ext cx="4206240" cy="4023360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4E79"/>
                </a:solidFill>
              </a:defRPr>
            </a:pPr>
            <a:r>
              <a:t>Resultats (par lettre)</a:t>
            </a:r>
          </a:p>
          <a:p>
            <a:pPr>
              <a:defRPr sz="1500" b="1">
                <a:solidFill>
                  <a:srgbClr val="373737"/>
                </a:solidFill>
              </a:defRPr>
            </a:pPr>
            <a:r>
              <a:t>CV 5-fold, NOUVEAUX scripteurs :</a:t>
            </a:r>
          </a:p>
          <a:p>
            <a:pPr>
              <a:defRPr sz="2200" b="1">
                <a:solidFill>
                  <a:srgbClr val="E8772E"/>
                </a:solidFill>
              </a:defRPr>
            </a:pPr>
            <a:r>
              <a:t>62,7 % ± 4,2</a:t>
            </a:r>
          </a:p>
          <a:p>
            <a:pPr>
              <a:defRPr sz="1200" b="1">
                <a:solidFill>
                  <a:srgbClr val="6E6E6E"/>
                </a:solidFill>
              </a:defRPr>
            </a:pPr>
            <a:r>
              <a:t>(folds : 69,9 / 60,4 / 64,7 / 60,4 / 58,0)</a:t>
            </a:r>
          </a:p>
          <a:p>
            <a:pPr>
              <a:defRPr sz="800" b="1">
                <a:solidFill>
                  <a:srgbClr val="373737"/>
                </a:solidFill>
              </a:defRPr>
            </a:pPr>
          </a:p>
          <a:p>
            <a:pPr>
              <a:defRPr sz="1500" b="1">
                <a:solidFill>
                  <a:srgbClr val="373737"/>
                </a:solidFill>
              </a:defRPr>
            </a:pPr>
            <a:r>
              <a:t>Test FORM3, scripteurs CONNUS :</a:t>
            </a:r>
          </a:p>
          <a:p>
            <a:pPr>
              <a:defRPr sz="1800" b="1">
                <a:solidFill>
                  <a:srgbClr val="2E7D32"/>
                </a:solidFill>
              </a:defRPr>
            </a:pPr>
            <a:r>
              <a:t>73,4 %  (70,5 % avant fine-tuning)</a:t>
            </a:r>
          </a:p>
          <a:p>
            <a:pPr>
              <a:defRPr sz="800" b="1">
                <a:solidFill>
                  <a:srgbClr val="373737"/>
                </a:solidFill>
              </a:defRPr>
            </a:pPr>
          </a:p>
          <a:p>
            <a:pPr>
              <a:defRPr sz="1300" b="1">
                <a:solidFill>
                  <a:srgbClr val="2E7D32"/>
                </a:solidFill>
              </a:defRPr>
            </a:pPr>
            <a:r>
              <a:t>Labels nettoyes : 59,5 -&gt; 62,7 % (+3,2).</a:t>
            </a:r>
          </a:p>
          <a:p>
            <a:pPr>
              <a:defRPr sz="1300" b="1">
                <a:solidFill>
                  <a:srgbClr val="373737"/>
                </a:solidFill>
              </a:defRPr>
            </a:pPr>
            <a:r>
              <a:t>L'ecart vs scripteurs connus quantifie</a:t>
            </a:r>
          </a:p>
          <a:p>
            <a:pPr>
              <a:defRPr sz="1300" b="1">
                <a:solidFill>
                  <a:srgbClr val="373737"/>
                </a:solidFill>
              </a:defRPr>
            </a:pPr>
            <a:r>
              <a:t>la part d'ecriture personnelle apprise.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9692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Resultats par axe du challenge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61320" y="256032"/>
            <a:ext cx="1325880" cy="420624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IG.2405 — DeepForm — Soutenance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11338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Mesure cellule par cellule contre la verite terrain fournie (tools/compare_to_truth.py)</a:t>
            </a:r>
          </a:p>
          <a:p>
            <a:pPr>
              <a:spcAft>
                <a:spcPts val="700"/>
              </a:spcAft>
              <a:defRPr sz="1700">
                <a:solidFill>
                  <a:srgbClr val="373737"/>
                </a:solidFill>
              </a:defRPr>
            </a:pPr>
            <a:r>
              <a:t>▪  Generalisation 3 formulaires : 66,2 % global — temps d'execution ~12 min (43 PDF + 32 photos, CPU)</a:t>
            </a:r>
          </a:p>
        </p:txBody>
      </p:sp>
      <p:pic>
        <p:nvPicPr>
          <p:cNvPr id="8" name="Picture 7" descr="fig_result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487" y="3520440"/>
            <a:ext cx="8046720" cy="439240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9692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Limites et perspectives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61320" y="256032"/>
            <a:ext cx="1325880" cy="420624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IG.2405 — DeepForm — Soutenance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11338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73737"/>
                </a:solidFill>
              </a:defRPr>
            </a:pPr>
            <a:r>
              <a:t>▪  Noms en correspondance exacte : ~73 % par lettre -&gt; un nom de 8 lettres reste difficile</a:t>
            </a:r>
          </a:p>
          <a:p>
            <a:pPr lvl="1">
              <a:spcAft>
                <a:spcPts val="700"/>
              </a:spcAft>
              <a:defRPr sz="1500">
                <a:solidFill>
                  <a:srgbClr val="6E6E6E"/>
                </a:solidFill>
              </a:defRPr>
            </a:pPr>
            <a:r>
              <a:t>–  perspective : plus de donnees, classes rares (Q, X, Z) sous-representees</a:t>
            </a:r>
          </a:p>
          <a:p>
            <a:pPr>
              <a:spcAft>
                <a:spcPts val="700"/>
              </a:spcAft>
              <a:defRPr sz="1800">
                <a:solidFill>
                  <a:srgbClr val="373737"/>
                </a:solidFill>
              </a:defRPr>
            </a:pPr>
            <a:r>
              <a:t>▪  Signatures : 8 cas ou le bon eleve est 2e a tres peu pres (ambiguite biometrique reelle)</a:t>
            </a:r>
          </a:p>
          <a:p>
            <a:pPr>
              <a:spcAft>
                <a:spcPts val="700"/>
              </a:spcAft>
              <a:defRPr sz="1800">
                <a:solidFill>
                  <a:srgbClr val="373737"/>
                </a:solidFill>
              </a:defRPr>
            </a:pPr>
            <a:r>
              <a:t>▪  Verite terrain parfois incoherente (unite pre-imprimee « KHz » notee tantot vide, tantot KHz)</a:t>
            </a:r>
          </a:p>
          <a:p>
            <a:pPr>
              <a:spcAft>
                <a:spcPts val="700"/>
              </a:spcAft>
              <a:defRPr sz="1800">
                <a:solidFill>
                  <a:srgbClr val="373737"/>
                </a:solidFill>
              </a:defRPr>
            </a:pPr>
            <a:r>
              <a:t>▪  Recalage photo : derive residuelle d'un chiffre sur ~7 photos difficiles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12191695" cy="82296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651760"/>
            <a:ext cx="85039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Merci —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